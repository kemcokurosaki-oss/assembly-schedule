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0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A6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-457200"/>
            <a:ext cx="3200400" cy="320040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4320" y="1828800"/>
            <a:ext cx="2011680" cy="201168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0" y="5029200"/>
            <a:ext cx="2560320" cy="256032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メイリオ"/>
              </a:rPr>
              <a:t>組立工程表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59E0B"/>
                </a:solidFill>
                <a:latin typeface="メイリオ"/>
              </a:rPr>
              <a:t>閲覧者向け 操作ガイド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FDBFF"/>
                </a:solidFill>
                <a:latin typeface="メイリオ"/>
              </a:rPr>
              <a:t>ログインなしで使えるすべての機能を解説します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943600"/>
            <a:ext cx="1828800" cy="502920"/>
          </a:xfrm>
          <a:prstGeom prst="rect">
            <a:avLst/>
          </a:prstGeom>
          <a:solidFill>
            <a:srgbClr val="22A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03612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メイリオ"/>
              </a:rPr>
              <a:t>閲覧者専用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A6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メイリオ"/>
              </a:rPr>
              <a:t>画面全体の構成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BAD4FF"/>
                </a:solidFill>
                <a:latin typeface="メイリオ"/>
              </a:rPr>
              <a:t>1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77724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</a:rPr>
              <a:t>① ヘッダー（操作ボタン・フィルター）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57400"/>
            <a:ext cx="347472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22A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2057400"/>
            <a:ext cx="3474720" cy="457200"/>
          </a:xfrm>
          <a:prstGeom prst="rect">
            <a:avLst/>
          </a:prstGeom>
          <a:solidFill>
            <a:srgbClr val="22A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084831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メイリオ"/>
              </a:rPr>
              <a:t>② グリッド（左側）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0604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メイリオ"/>
              </a:rPr>
              <a:t>工事番号・機械・ユニット</a:t>
            </a:r>
          </a:p>
          <a:p>
            <a:pPr algn="l"/>
            <a:r>
              <a:rPr sz="1300" b="0">
                <a:solidFill>
                  <a:srgbClr val="475569"/>
                </a:solidFill>
                <a:latin typeface="メイリオ"/>
              </a:rPr>
              <a:t>タスク名・担当者</a:t>
            </a:r>
          </a:p>
          <a:p>
            <a:pPr algn="l"/>
            <a:r>
              <a:rPr sz="1300" b="0">
                <a:solidFill>
                  <a:srgbClr val="475569"/>
                </a:solidFill>
                <a:latin typeface="メイリオ"/>
              </a:rPr>
              <a:t>組立場所・開始日・終了日</a:t>
            </a:r>
          </a:p>
          <a:p>
            <a:pPr algn="l"/>
            <a:r>
              <a:rPr sz="1300" b="0">
                <a:solidFill>
                  <a:srgbClr val="475569"/>
                </a:solidFill>
                <a:latin typeface="メイリオ"/>
              </a:rPr>
              <a:t>日数 などの情報一覧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690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89C4"/>
                </a:solidFill>
                <a:latin typeface="メイリオ"/>
              </a:rPr>
              <a:t>クリック</a:t>
            </a:r>
          </a:p>
          <a:p>
            <a:pPr algn="l"/>
            <a:r>
              <a:rPr sz="1200" b="0">
                <a:solidFill>
                  <a:srgbClr val="475569"/>
                </a:solidFill>
                <a:latin typeface="メイリオ"/>
              </a:rPr>
              <a:t>  → タスク開始日へ自動スクロール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572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89C4"/>
                </a:solidFill>
                <a:latin typeface="メイリオ"/>
              </a:rPr>
              <a:t>ダブルクリック</a:t>
            </a:r>
          </a:p>
          <a:p>
            <a:pPr algn="l"/>
            <a:r>
              <a:rPr sz="1200" b="0">
                <a:solidFill>
                  <a:srgbClr val="475569"/>
                </a:solidFill>
                <a:latin typeface="メイリオ"/>
              </a:rPr>
              <a:t>  → 詳細情報の確認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7639" y="2057400"/>
            <a:ext cx="781812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5A89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977639" y="2057400"/>
            <a:ext cx="7818120" cy="457200"/>
          </a:xfrm>
          <a:prstGeom prst="rect">
            <a:avLst/>
          </a:prstGeom>
          <a:solidFill>
            <a:srgbClr val="5A8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69080" y="2084831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メイリオ"/>
              </a:rPr>
              <a:t>③ タイムライン（右側）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6060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メイリオ"/>
              </a:rPr>
              <a:t>日付ヘッダー（年/月/日/曜日）</a:t>
            </a:r>
          </a:p>
          <a:p>
            <a:pPr algn="l"/>
            <a:r>
              <a:rPr sz="1300" b="0">
                <a:solidFill>
                  <a:srgbClr val="475569"/>
                </a:solidFill>
                <a:latin typeface="メイリオ"/>
              </a:rPr>
              <a:t>タスクバー（担当者ごとの色分け）</a:t>
            </a:r>
          </a:p>
          <a:p>
            <a:pPr algn="l"/>
            <a:r>
              <a:rPr sz="1300" b="0">
                <a:solidFill>
                  <a:srgbClr val="475569"/>
                </a:solidFill>
                <a:latin typeface="メイリオ"/>
              </a:rPr>
              <a:t>今日の縦線（赤い縦線）</a:t>
            </a:r>
          </a:p>
          <a:p>
            <a:pPr algn="l"/>
            <a:r>
              <a:rPr sz="1300" b="0">
                <a:solidFill>
                  <a:srgbClr val="475569"/>
                </a:solidFill>
                <a:latin typeface="メイリオ"/>
              </a:rPr>
              <a:t>土日・祝日は列が色分け表示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069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89C4"/>
                </a:solidFill>
                <a:latin typeface="メイリオ"/>
              </a:rPr>
              <a:t>左右スクロール</a:t>
            </a:r>
          </a:p>
          <a:p>
            <a:pPr algn="l"/>
            <a:r>
              <a:rPr sz="1200" b="0">
                <a:solidFill>
                  <a:srgbClr val="475569"/>
                </a:solidFill>
                <a:latin typeface="メイリオ"/>
              </a:rPr>
              <a:t>  → 期間を移動して確認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572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89C4"/>
                </a:solidFill>
                <a:latin typeface="メイリオ"/>
              </a:rPr>
              <a:t>ダブルクリック</a:t>
            </a:r>
          </a:p>
          <a:p>
            <a:pPr algn="l"/>
            <a:r>
              <a:rPr sz="1200" b="0">
                <a:solidFill>
                  <a:srgbClr val="475569"/>
                </a:solidFill>
                <a:latin typeface="メイリオ"/>
              </a:rPr>
              <a:t>  → タスク詳細の確認（編集不可）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58768" y="2057400"/>
            <a:ext cx="109728" cy="3749039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5943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97706"/>
                </a:solidFill>
                <a:latin typeface="メイリオ"/>
              </a:rPr>
              <a:t>※ 閲覧者はガントバーのドラッグ・編集操作はできません（ログイン必要）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A6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メイリオ"/>
              </a:rPr>
              <a:t>表示モード切替ボタン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BAD4FF"/>
                </a:solidFill>
                <a:latin typeface="メイリオ"/>
              </a:rPr>
              <a:t>2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83464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2834640" cy="96012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</a:rPr>
              <a:t>👤 担当別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メイリオ"/>
              </a:rPr>
              <a:t>担当者別リソース全画面表示
各担当者の工程を
縦に並べて確認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143000"/>
            <a:ext cx="283464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1143000"/>
            <a:ext cx="2834640" cy="960120"/>
          </a:xfrm>
          <a:prstGeom prst="rect">
            <a:avLst/>
          </a:prstGeom>
          <a:solidFill>
            <a:srgbClr val="22A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118872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</a:rPr>
              <a:t>🔧 組立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4028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メイリオ"/>
              </a:rPr>
              <a:t>組立タスクのみ表示
（デフォルト表示）
機械組立・盤組立・
電気艤装などを確認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73368" y="1143000"/>
            <a:ext cx="283464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73368" y="1143000"/>
            <a:ext cx="2834640" cy="960120"/>
          </a:xfrm>
          <a:prstGeom prst="rect">
            <a:avLst/>
          </a:prstGeom>
          <a:solidFill>
            <a:srgbClr val="5A8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118872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</a:rPr>
              <a:t>📍 組立場所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24028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メイリオ"/>
              </a:rPr>
              <a:t>フロアプランビュー
工場の区画ごとに
作業場所を確認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1143000"/>
            <a:ext cx="283464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26880" y="1143000"/>
            <a:ext cx="2834640" cy="960120"/>
          </a:xfrm>
          <a:prstGeom prst="rect">
            <a:avLst/>
          </a:prstGeom>
          <a:solidFill>
            <a:srgbClr val="552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0" y="118872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</a:rPr>
              <a:t>✈ 出張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24028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メイリオ"/>
              </a:rPr>
              <a:t>出張タスクのみ表示
出張スケジュールを
専用画面で確認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669280"/>
            <a:ext cx="11430000" cy="540134"/>
          </a:xfrm>
          <a:prstGeom prst="rect">
            <a:avLst/>
          </a:prstGeom>
          <a:solidFill>
            <a:srgbClr val="5A8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7291" y="5806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メイリオ"/>
              </a:rPr>
              <a:t>💡  ボタンをクリックするとモード切替。アクティブなボタンは強調表示されます。同じボタンを再クリックすると「組立」モードに戻ります。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A6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メイリオ"/>
              </a:rPr>
              <a:t>ズーム・フィルター操作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BAD4FF"/>
                </a:solidFill>
                <a:latin typeface="メイリオ"/>
              </a:rPr>
              <a:t>3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30352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303520" cy="502920"/>
          </a:xfrm>
          <a:prstGeom prst="rect">
            <a:avLst/>
          </a:prstGeom>
          <a:solidFill>
            <a:srgbClr val="22A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</a:rPr>
              <a:t>ズーム切替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2011680" cy="45720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</a:rPr>
              <a:t>日単位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95728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メイリオ"/>
              </a:rPr>
              <a:t>1日1列でバーを詳細表示
（デフォルト）
土日・祝日は背景色が変わります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1828800"/>
            <a:ext cx="2011680" cy="45720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0896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</a:rPr>
              <a:t>週単位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395728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メイリオ"/>
              </a:rPr>
              <a:t>1週間を1列に圧縮
全体スケジュールを
コンパクトに把握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49039"/>
            <a:ext cx="5029200" cy="2286000"/>
          </a:xfrm>
          <a:prstGeom prst="rect">
            <a:avLst/>
          </a:prstGeom>
          <a:solidFill>
            <a:srgbClr val="F8FBFF"/>
          </a:solidFill>
          <a:ln w="9525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840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メイリオ"/>
              </a:rPr>
              <a:t>赤い縦線 = 今日の位置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メイリオ"/>
              </a:rPr>
              <a:t>タイムライン上の赤い縦線が「本日」を示します。
現在進行中のタスクを素早く特定できます。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143000"/>
            <a:ext cx="59436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0" y="1143000"/>
            <a:ext cx="5943600" cy="502920"/>
          </a:xfrm>
          <a:prstGeom prst="rect">
            <a:avLst/>
          </a:prstGeom>
          <a:solidFill>
            <a:srgbClr val="5A8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0760" y="117043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</a:rPr>
              <a:t>フィルター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78308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178308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6BAD"/>
                </a:solidFill>
                <a:latin typeface="メイリオ"/>
              </a:rPr>
              <a:t>工事番号フィルター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221991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メイリオ"/>
              </a:rPr>
              <a:t>「工事番号: 全表示」をクリックしてドロップダウンを開きます。
工事番号を1つ以上選択して絞り込みが可能。複数選択もできます。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20040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320040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6BAD"/>
                </a:solidFill>
                <a:latin typeface="メイリオ"/>
              </a:rPr>
              <a:t>タスク名フィルター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639312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メイリオ"/>
              </a:rPr>
              <a:t>「タスク名: 全表示」をクリックで絞り込み。
機械組立 / 盤組立 / 電気艤装 / 出荷 の4種類から選択できます。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461772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461772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6BAD"/>
                </a:solidFill>
                <a:latin typeface="メイリオ"/>
              </a:rPr>
              <a:t>担当者フィルター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056631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メイリオ"/>
              </a:rPr>
              <a:t>「リソース表示」をONにすると表示されます。
特定の担当者のタスクのみ表示する絞り込みが可能です。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A8C8"/>
                </a:solidFill>
                <a:latin typeface="メイリオ"/>
              </a:rPr>
              <a:t>💡  フィルター外をクリックするとドロップダウンが閉じます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A6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メイリオ"/>
              </a:rPr>
              <a:t>グリッド（左側）の操作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BAD4FF"/>
                </a:solidFill>
                <a:latin typeface="メイリオ"/>
              </a:rPr>
              <a:t>4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6576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657600" cy="868680"/>
          </a:xfrm>
          <a:prstGeom prst="rect">
            <a:avLst/>
          </a:prstGeom>
          <a:solidFill>
            <a:srgbClr val="22A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メイリオ"/>
              </a:rPr>
              <a:t>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17043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メイリオ"/>
              </a:rPr>
              <a:t>シングルクリック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5727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FF"/>
                </a:solidFill>
                <a:latin typeface="メイリオ"/>
              </a:rPr>
              <a:t>タスクの開始日へ自動スクロール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メイリオ"/>
              </a:rPr>
              <a:t>グリッドの行（タスク）をクリックすると、
タイムライン（右側）がそのタスクの
開始日の位置まで自動的にスクロールします。
探したいタスクをすぐに見つけられます。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143000"/>
            <a:ext cx="36576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143000"/>
            <a:ext cx="3657600" cy="868680"/>
          </a:xfrm>
          <a:prstGeom prst="rect">
            <a:avLst/>
          </a:prstGeom>
          <a:solidFill>
            <a:srgbClr val="5A8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118872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メイリオ"/>
              </a:rPr>
              <a:t>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17043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メイリオ"/>
              </a:rPr>
              <a:t>ダブルクリック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5727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FF"/>
                </a:solidFill>
                <a:latin typeface="メイリオ"/>
              </a:rPr>
              <a:t>タスク詳細の表示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10312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メイリオ"/>
              </a:rPr>
              <a:t>グリッドの行をダブルクリックすると、
インライン編集ポップアップが開きます。
閲覧者（ログアウト状態）は
詳細内容の確認のみ可能です。
変更はできません。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02168" y="1143000"/>
            <a:ext cx="36576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02168" y="1143000"/>
            <a:ext cx="3657600" cy="86868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93608" y="118872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メイリオ"/>
              </a:rPr>
              <a:t>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117043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メイリオ"/>
              </a:rPr>
              <a:t>Ctrl + クリック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15727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FF"/>
                </a:solidFill>
                <a:latin typeface="メイリオ"/>
              </a:rPr>
              <a:t>複数行の選択（参照用）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210312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475569"/>
                </a:solidFill>
                <a:latin typeface="メイリオ"/>
              </a:rPr>
              <a:t>Ctrlキーを押しながら複数行をクリックすると
複数のタスクを同時に選択できます。
閲覧者は選択のみ可能です。
削除・編集操作は行えません。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355080"/>
            <a:ext cx="11430000" cy="384048"/>
          </a:xfrm>
          <a:prstGeom prst="rect">
            <a:avLst/>
          </a:prstGeom>
          <a:solidFill>
            <a:srgbClr val="5A8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6429721"/>
            <a:ext cx="11064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00"/>
                </a:solidFill>
                <a:latin typeface="メイリオ"/>
              </a:rPr>
              <a:t>※  タスクバーのドラッグ（期間変更）は編集者のみ可能です。閲覧者はスクロール確認のみです。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A6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メイリオ"/>
              </a:rPr>
              <a:t>リソース表示 ／ 担当別モード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BAD4FF"/>
                </a:solidFill>
                <a:latin typeface="メイリオ"/>
              </a:rPr>
              <a:t>5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3949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394960" cy="502920"/>
          </a:xfrm>
          <a:prstGeom prst="rect">
            <a:avLst/>
          </a:prstGeom>
          <a:solidFill>
            <a:srgbClr val="22A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</a:rPr>
              <a:t>🔲 リソース表示（ガント下部に追加）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92807"/>
            <a:ext cx="54864" cy="822960"/>
          </a:xfrm>
          <a:prstGeom prst="rect">
            <a:avLst/>
          </a:prstGeom>
          <a:solidFill>
            <a:srgbClr val="22A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6BAD"/>
                </a:solidFill>
                <a:latin typeface="メイリオ"/>
              </a:rPr>
              <a:t>「リソース表示」ボタンをクリック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85416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メイリオ"/>
              </a:rPr>
              <a:t>ガントチャートの下部に担当者別パネルが追加表示されます。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72968"/>
            <a:ext cx="54864" cy="822960"/>
          </a:xfrm>
          <a:prstGeom prst="rect">
            <a:avLst/>
          </a:prstGeom>
          <a:solidFill>
            <a:srgbClr val="22A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063239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6BAD"/>
                </a:solidFill>
                <a:latin typeface="メイリオ"/>
              </a:rPr>
              <a:t>担当者ごとの業務量を確認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65575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メイリオ"/>
              </a:rPr>
              <a:t>各担当者がどの期間にどのタスクを担当しているか
一覧で確認できます。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53128"/>
            <a:ext cx="54864" cy="822960"/>
          </a:xfrm>
          <a:prstGeom prst="rect">
            <a:avLst/>
          </a:prstGeom>
          <a:solidFill>
            <a:srgbClr val="22A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6BAD"/>
                </a:solidFill>
                <a:latin typeface="メイリオ"/>
              </a:rPr>
              <a:t>タイムラインと連動スクロール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45736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メイリオ"/>
              </a:rPr>
              <a:t>ガントチャートと同期して左右スクロールします。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143000"/>
            <a:ext cx="57607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1143000"/>
            <a:ext cx="5760720" cy="50292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117043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</a:rPr>
              <a:t>👤 担当別（全画面リソース表示）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827949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78308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6BAD"/>
                </a:solidFill>
                <a:latin typeface="メイリオ"/>
              </a:rPr>
              <a:t>「👤 担当別」ボタンをクリック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185416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メイリオ"/>
              </a:rPr>
              <a:t>ガントチャートが非表示になり、
担当者別のリソース画面が全画面で開きます。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008376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2962656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6BAD"/>
                </a:solidFill>
                <a:latin typeface="メイリオ"/>
              </a:rPr>
              <a:t>担当者名をクリック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231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メイリオ"/>
              </a:rPr>
              <a:t>その担当者のタスク一覧が
タスクタイプ別に詳細表示されます。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174236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423367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6BAD"/>
                </a:solidFill>
                <a:latin typeface="メイリオ"/>
              </a:rPr>
              <a:t>「← 一覧に戻る」ボタン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5720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メイリオ"/>
              </a:rPr>
              <a:t>担当者一覧に戻ります。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5243234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525780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6BAD"/>
                </a:solidFill>
                <a:latin typeface="メイリオ"/>
              </a:rPr>
              <a:t>再度ボタンをクリック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605272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569"/>
                </a:solidFill>
                <a:latin typeface="メイリオ"/>
              </a:rPr>
              <a:t>通常のガントチャート（組立モード）に
戻ります。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A6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メイリオ"/>
              </a:rPr>
              <a:t>使い方ガイド ／ ログインについて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2286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BAD4FF"/>
                </a:solidFill>
                <a:latin typeface="メイリオ"/>
              </a:rPr>
              <a:t>6 /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3949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394960" cy="548640"/>
          </a:xfrm>
          <a:prstGeom prst="rect">
            <a:avLst/>
          </a:prstGeom>
          <a:solidFill>
            <a:srgbClr val="22A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メイリオ"/>
              </a:rPr>
              <a:t>？ 使い方ガイドボタン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569"/>
                </a:solidFill>
                <a:latin typeface="メイリオ"/>
              </a:rPr>
              <a:t>画面右上の「？使い方ガイド」ボタンを
クリックすると、各ボタンの説明が
ポップアップで表示されます。
各ボタンにカーソルを重ねると
詳細な説明が表示されます。
もう一度クリックするか、
Escキーで閉じることができます。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143000"/>
            <a:ext cx="576072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1143000"/>
            <a:ext cx="5760720" cy="548640"/>
          </a:xfrm>
          <a:prstGeom prst="rect">
            <a:avLst/>
          </a:prstGeom>
          <a:solidFill>
            <a:srgbClr val="2E5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メイリオ"/>
              </a:rPr>
              <a:t>ログインについて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810512"/>
            <a:ext cx="5486400" cy="347472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メイリオ"/>
              </a:rPr>
              <a:t>✅  閲覧者（ログアウト状態）でできること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219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59669"/>
                </a:solidFill>
                <a:latin typeface="メイリオ"/>
              </a:rPr>
              <a:t>  ✓  工程表の閲覧・スクロール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6946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59669"/>
                </a:solidFill>
                <a:latin typeface="メイリオ"/>
              </a:rPr>
              <a:t>  ✓  フィルターによる絞り込み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1693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59669"/>
                </a:solidFill>
                <a:latin typeface="メイリオ"/>
              </a:rPr>
              <a:t>  ✓  表示モードの切替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644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59669"/>
                </a:solidFill>
                <a:latin typeface="メイリオ"/>
              </a:rPr>
              <a:t>  ✓  リソース表示の確認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1187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59669"/>
                </a:solidFill>
                <a:latin typeface="メイリオ"/>
              </a:rPr>
              <a:t>  ✓  担当者別タスクの確認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050791"/>
            <a:ext cx="5486400" cy="347472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406908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メイリオ"/>
              </a:rPr>
              <a:t>🔒  編集者（ログイン後）のみできること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622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C2626"/>
                </a:solidFill>
                <a:latin typeface="メイリオ"/>
              </a:rPr>
              <a:t>  🔒  タスクの追加・編集・削除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097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C2626"/>
                </a:solidFill>
                <a:latin typeface="メイリオ"/>
              </a:rPr>
              <a:t>  🔒  ガントバーのドラッグ操作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572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C2626"/>
                </a:solidFill>
                <a:latin typeface="メイリオ"/>
              </a:rPr>
              <a:t>  🔒  完了工事のアーカイブ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5596127"/>
            <a:ext cx="5486400" cy="453799"/>
          </a:xfrm>
          <a:prstGeom prst="rect">
            <a:avLst/>
          </a:prstGeom>
          <a:solidFill>
            <a:srgbClr val="E0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5669279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A6BAD"/>
                </a:solidFill>
                <a:latin typeface="メイリオ"/>
              </a:rPr>
              <a:t>ログイン方法：右上「ログイン」→ メールアドレスとパスワードを入力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460</Words>
  <Application>Microsoft Office PowerPoint</Application>
  <PresentationFormat>ユーザー設定</PresentationFormat>
  <Paragraphs>103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メイリオ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黒崎 恵未</cp:lastModifiedBy>
  <cp:revision>3</cp:revision>
  <dcterms:created xsi:type="dcterms:W3CDTF">2013-01-27T09:14:16Z</dcterms:created>
  <dcterms:modified xsi:type="dcterms:W3CDTF">2026-05-08T06:57:42Z</dcterms:modified>
  <cp:category/>
</cp:coreProperties>
</file>